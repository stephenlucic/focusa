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jvgUIIQNxbW1++HbEkWKkYapQl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e605661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ae605661e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917e5020a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g3917e5020a2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e832b1d6b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ae832b1d6b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e832b1d6b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ae832b1d6b_2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11.jp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s-CL"/>
              <a:t>Presentación Final Capstone</a:t>
            </a:r>
            <a:br>
              <a:rPr lang="es-CL"/>
            </a:br>
            <a:r>
              <a:rPr lang="es-CL" sz="3200"/>
              <a:t>“FOCUSA”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2025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4082926" y="1382434"/>
            <a:ext cx="6781017" cy="4571644"/>
            <a:chOff x="0" y="0"/>
            <a:chExt cx="6781017" cy="4571644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6781017" cy="143528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2F6CD6"/>
                </a:gs>
                <a:gs pos="100000">
                  <a:srgbClr val="8FB2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499732" y="0"/>
              <a:ext cx="5281284" cy="1435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s-CL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Carla Adasme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105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Char char="•"/>
              </a:pPr>
              <a:r>
                <a:rPr b="0" i="0" lang="es-CL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Cargo</a:t>
              </a:r>
              <a:endPara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45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Char char="•"/>
              </a:pPr>
              <a:r>
                <a:rPr b="0" i="0" lang="es-CL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QA y DBA</a:t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43528" y="143528"/>
              <a:ext cx="1356203" cy="1148229"/>
            </a:xfrm>
            <a:prstGeom prst="roundRect">
              <a:avLst>
                <a:gd fmla="val 10000" name="adj"/>
              </a:avLst>
            </a:prstGeom>
            <a:blipFill rotWithShape="1">
              <a:blip r:embed="rId3">
                <a:alphaModFix/>
              </a:blip>
              <a:stretch>
                <a:fillRect b="-8998" l="0" r="0" t="-8999"/>
              </a:stretch>
            </a:blip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578814"/>
              <a:ext cx="6781017" cy="143528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2F6CD6"/>
                </a:gs>
                <a:gs pos="100000">
                  <a:srgbClr val="8FB2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499732" y="1578814"/>
              <a:ext cx="5281284" cy="1435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s-CL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Stephen Lucic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105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Char char="•"/>
              </a:pPr>
              <a:r>
                <a:rPr b="0" i="0" lang="es-CL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Cargo</a:t>
              </a:r>
              <a:endParaRPr b="0" i="0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45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Char char="•"/>
              </a:pPr>
              <a:r>
                <a:rPr b="0" i="0" lang="es-CL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Jefe de proyecto y Programador</a:t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43528" y="1722343"/>
              <a:ext cx="1356203" cy="1148229"/>
            </a:xfrm>
            <a:prstGeom prst="roundRect">
              <a:avLst>
                <a:gd fmla="val 10000" name="adj"/>
              </a:avLst>
            </a:prstGeom>
            <a:blipFill rotWithShape="1">
              <a:blip r:embed="rId4">
                <a:alphaModFix/>
              </a:blip>
              <a:stretch>
                <a:fillRect b="-28996" l="0" r="0" t="-28996"/>
              </a:stretch>
            </a:blip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3136358"/>
              <a:ext cx="6781017" cy="1435286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2F6CD6"/>
                </a:gs>
                <a:gs pos="100000">
                  <a:srgbClr val="8FB2FF"/>
                </a:gs>
              </a:gsLst>
              <a:lin ang="16200000" scaled="0"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499732" y="3136358"/>
              <a:ext cx="5281284" cy="14352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s-CL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Evelyn Ramos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1050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Char char="•"/>
              </a:pPr>
              <a:r>
                <a:rPr b="0" i="0" lang="es-CL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Cargo</a:t>
              </a:r>
              <a:endParaRPr/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45"/>
                </a:spcBef>
                <a:spcAft>
                  <a:spcPts val="0"/>
                </a:spcAft>
                <a:buClr>
                  <a:srgbClr val="000000"/>
                </a:buClr>
                <a:buSzPts val="2300"/>
                <a:buFont typeface="Arial"/>
                <a:buChar char="•"/>
              </a:pPr>
              <a:r>
                <a:rPr b="0" i="0" lang="es-CL" sz="2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Programador y diseñador</a:t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44003" y="3301072"/>
              <a:ext cx="1357206" cy="1148401"/>
            </a:xfrm>
            <a:prstGeom prst="roundRect">
              <a:avLst>
                <a:gd fmla="val 10000" name="adj"/>
              </a:avLst>
            </a:prstGeom>
            <a:blipFill rotWithShape="1">
              <a:blip r:embed="rId5">
                <a:alphaModFix/>
              </a:blip>
              <a:stretch>
                <a:fillRect b="-15998" l="0" r="0" t="-15999"/>
              </a:stretch>
            </a:blip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Descripción del Proyecto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990600" y="2169777"/>
            <a:ext cx="4254600" cy="45750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 vida cotidiana, las personas deben equilibrar múltiples responsabilidades: trabajo, estudios, compromisos personales, proyectos, metas y actividades sociales.</a:t>
            </a:r>
            <a:b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Aun así, la mayoría no cuenta con una herramienta simple, unificada y fácil de usar que </a:t>
            </a: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</a:t>
            </a: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organizar el tiempo de manera eficiente. Esto genera: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Desorganización constante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Sobrecarga mental y estrés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Falta de claridad sobre qué es realmente prioritario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Disminución de productividad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Olvidos, retrasos y mala administración del día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Dificultad para equilibrar vida personal, académica y laboral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personas no cuentan con una plataforma accesible, simple y pensada para organizar y optimizar su tiempo personal de forma eficiente.</a:t>
            </a:r>
            <a:endParaRPr sz="5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6664625" y="2177325"/>
            <a:ext cx="4399200" cy="45675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FOCUSA es una plataforma moderna, accesible y creada para cualquier persona, no solo para usuarios técnicos o empresas. Su propósito es ayudar a planificar y optimizar el tiempo de forma visual, práctica y centralizada.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único espacio para tareas personales, académicas y laborales.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Herramientas visuales como: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Kanban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Calendario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Notificaciones por correo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Priorización clara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FOCUSA ofrece una experiencia centrada en la persona, ayudándola a tomar control de su tiempo, reducir estrés y aumentar su productividad sin complejidad.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456903" y="3736258"/>
            <a:ext cx="893097" cy="486492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/>
          <p:nvPr/>
        </p:nvSpPr>
        <p:spPr>
          <a:xfrm>
            <a:off x="614515" y="2040571"/>
            <a:ext cx="10962967" cy="138842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web orientada a la gestión de tareas personales, que incorpore autenticación de usuarios, administración de perfiles, manejo de adjuntos, notificaciones por correo y un sistema de suscripciones, asegurando accesibilidad desde cualquier dispositivo.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39916" y="45673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la arquitectura lógica, de desarrollo y física del sistema; implementar el backend utilizando Django y una base de datos relacional; configurar el almacenamiento de archivos en Amazon S3; construir los módulos de tareas, etiquetas, usuarios y suscripciones, y finalmente desplegar la plataforma en AWS utilizando EC2, RDS, S3, IAM y CloudWatch para asegurar su disponibilidad, seguridad y escalabilidad.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152400" y="1197198"/>
            <a:ext cx="11937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196850" y="383842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 y Limitaciones del Proyecto </a:t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810075" y="1615250"/>
            <a:ext cx="5267100" cy="52428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s-CL" sz="1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 </a:t>
            </a:r>
            <a:endParaRPr b="1" sz="13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Organización Personal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crear, editar y gestionar tareas personales, académicas o laborales.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Ofrece vistas visuales como Kanban, Calendario, Listas y Dashboard.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 la priorización mediante etiquetas, colores, niveles de urgencia y fechas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del Tiempo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organizar actividades del día, semana o mes.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Muestra el estado del progreso de cada tarea.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Notificaciones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Envía notificaciones por correo en cada edición o cambio de estado de cada tarea.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Accesibilidad y Disponibilidad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 desde cualquier dispositivo con conexión a internet.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Ofrece una interfaz minimalista, clara y fácil de usar, ideal para personas sin experiencia técnica.</a:t>
            </a:r>
            <a:endParaRPr sz="27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405875" y="1560275"/>
            <a:ext cx="5267100" cy="52428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NO hace el Sistema: </a:t>
            </a:r>
            <a:endParaRPr b="1" sz="13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Equipos o Trabajo Colaborativo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permite asignar tareas entre varios usuarios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está orientado a metodologías ágiles como Scrum o Kanban empresarial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Automatizaciones Avanzadas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crea automatizaciones complejas ni procesos programables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Funciones de Comunicación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incluye chat interno, mensajería ni herramientas de comunicación entre usuarios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permite colaboración en tiempo real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Enfoque Empresarial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gestiona proyectos corporativos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s-CL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controla presupuestos, recursos, equipos o reportes empresariales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Funcionales </a:t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1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Registro y Autenticación de Usuarios: </a:t>
            </a:r>
            <a:r>
              <a:rPr b="0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Permitir crear cuentas y acceder con credenciales seguras.</a:t>
            </a:r>
            <a:endParaRPr/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1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Tareas: </a:t>
            </a:r>
            <a:r>
              <a:rPr b="0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Crear, editar, eliminar y marcar tareas como completadas.</a:t>
            </a:r>
            <a:endParaRPr/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1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Vistas de Organización: </a:t>
            </a:r>
            <a:r>
              <a:rPr b="0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Mostrar tareas en </a:t>
            </a:r>
            <a:r>
              <a:rPr b="1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lista, tablero Kanban y calendario semanal</a:t>
            </a:r>
            <a:r>
              <a:rPr b="0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1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Reportes Básicos: </a:t>
            </a:r>
            <a:r>
              <a:rPr b="0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Generar reportes de productividad (ejemplo: % de tareas completadas).</a:t>
            </a:r>
            <a:endParaRPr/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1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Roles de Usuario: </a:t>
            </a:r>
            <a:r>
              <a:rPr b="0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 estándar (usuario) y rol administrador básico.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type="title"/>
          </p:nvPr>
        </p:nvSpPr>
        <p:spPr>
          <a:xfrm>
            <a:off x="841416" y="1054443"/>
            <a:ext cx="10515600" cy="723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No Funcionales </a:t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948344" y="1988457"/>
            <a:ext cx="10314742" cy="422365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1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Usabilidad: </a:t>
            </a:r>
            <a:r>
              <a:rPr b="0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Interfaz intuitiva, amigable y adaptable a distintos tamaños de pantalla.</a:t>
            </a:r>
            <a:endParaRPr/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1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Rendimiento: </a:t>
            </a:r>
            <a:r>
              <a:rPr b="0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debe responder en menos de 2 segundos por acción (crear, editar tarea).</a:t>
            </a:r>
            <a:endParaRPr/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1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Portabilidad: </a:t>
            </a:r>
            <a:r>
              <a:rPr b="0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Ejecutable en versión </a:t>
            </a:r>
            <a:r>
              <a:rPr b="1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</a:t>
            </a:r>
            <a:r>
              <a:rPr b="0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Seguridad: </a:t>
            </a:r>
            <a:r>
              <a:rPr b="0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Autenticación segura y cifrado de contraseñas.</a:t>
            </a:r>
            <a:endParaRPr/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b="1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Escalabilidad inicial: </a:t>
            </a:r>
            <a:r>
              <a:rPr b="0" i="0" lang="es-CL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Preparado para crecer e incorporar nuevas funcionalidades en el futuro.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41" name="Google Shape;141;p8"/>
          <p:cNvSpPr txBox="1"/>
          <p:nvPr/>
        </p:nvSpPr>
        <p:spPr>
          <a:xfrm>
            <a:off x="757367" y="1848356"/>
            <a:ext cx="999046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Datos Relacional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8157" y="1513840"/>
            <a:ext cx="8282972" cy="5180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 </a:t>
            </a:r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725714" y="1712687"/>
            <a:ext cx="10824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Caso Uso - Usuario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9"/>
          <p:cNvPicPr preferRelativeResize="0"/>
          <p:nvPr/>
        </p:nvPicPr>
        <p:blipFill rotWithShape="1">
          <a:blip r:embed="rId3">
            <a:alphaModFix/>
          </a:blip>
          <a:srcRect b="3257" l="0" r="3930" t="6355"/>
          <a:stretch/>
        </p:blipFill>
        <p:spPr>
          <a:xfrm>
            <a:off x="3799840" y="1631820"/>
            <a:ext cx="8336483" cy="5114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e605661e2_0_0"/>
          <p:cNvSpPr txBox="1"/>
          <p:nvPr>
            <p:ph type="title"/>
          </p:nvPr>
        </p:nvSpPr>
        <p:spPr>
          <a:xfrm>
            <a:off x="641252" y="1068511"/>
            <a:ext cx="105156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Diseño del Sistema</a:t>
            </a:r>
            <a:endParaRPr/>
          </a:p>
        </p:txBody>
      </p:sp>
      <p:sp>
        <p:nvSpPr>
          <p:cNvPr id="155" name="Google Shape;155;g3ae605661e2_0_0"/>
          <p:cNvSpPr txBox="1"/>
          <p:nvPr/>
        </p:nvSpPr>
        <p:spPr>
          <a:xfrm>
            <a:off x="725714" y="1712687"/>
            <a:ext cx="10824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Caso Uso - Admi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g3ae605661e2_0_0"/>
          <p:cNvPicPr preferRelativeResize="0"/>
          <p:nvPr/>
        </p:nvPicPr>
        <p:blipFill rotWithShape="1">
          <a:blip r:embed="rId3">
            <a:alphaModFix/>
          </a:blip>
          <a:srcRect b="2344" l="3181" r="6835" t="1749"/>
          <a:stretch/>
        </p:blipFill>
        <p:spPr>
          <a:xfrm>
            <a:off x="4663440" y="1128067"/>
            <a:ext cx="7416800" cy="5506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162" name="Google Shape;162;p10"/>
          <p:cNvSpPr txBox="1"/>
          <p:nvPr/>
        </p:nvSpPr>
        <p:spPr>
          <a:xfrm>
            <a:off x="641252" y="1828016"/>
            <a:ext cx="10861319" cy="57246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 Framework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Django 5.2.5 - Framework web de Python para desarrollo rápido y seguro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MySQL - Sistema de gestión de bases de datos relacional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Generación de PDFs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Weasyprint 66.0 - Conversión de HTML/CSS a PDF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Lenguaje de Programación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3.12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HTML5, CSS3, JavaScript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Bootstrap 5 - Framework CSS para diseño responsive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Generación de dashboard: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Apexchart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Calendario: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s-C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FullCalendar.js (CDN) - Librería JavaScript para renderizar calendarios interactivos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>
            <p:ph type="title"/>
          </p:nvPr>
        </p:nvSpPr>
        <p:spPr>
          <a:xfrm>
            <a:off x="753794" y="70274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Planificación desde el 21/08 al 08/12</a:t>
            </a:r>
            <a:endParaRPr/>
          </a:p>
        </p:txBody>
      </p:sp>
      <p:sp>
        <p:nvSpPr>
          <p:cNvPr id="168" name="Google Shape;168;p11"/>
          <p:cNvSpPr txBox="1"/>
          <p:nvPr/>
        </p:nvSpPr>
        <p:spPr>
          <a:xfrm>
            <a:off x="753806" y="1843646"/>
            <a:ext cx="499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00" y="1946621"/>
            <a:ext cx="11887198" cy="3896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"/>
          <p:cNvSpPr txBox="1"/>
          <p:nvPr>
            <p:ph type="title"/>
          </p:nvPr>
        </p:nvSpPr>
        <p:spPr>
          <a:xfrm>
            <a:off x="453394" y="781965"/>
            <a:ext cx="105156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CL" sz="3600"/>
              <a:t>Plan de Pruebas Desarrollo</a:t>
            </a:r>
            <a:endParaRPr/>
          </a:p>
        </p:txBody>
      </p:sp>
      <p:pic>
        <p:nvPicPr>
          <p:cNvPr id="175" name="Google Shape;175;p12"/>
          <p:cNvPicPr preferRelativeResize="0"/>
          <p:nvPr/>
        </p:nvPicPr>
        <p:blipFill rotWithShape="1">
          <a:blip r:embed="rId3">
            <a:alphaModFix/>
          </a:blip>
          <a:srcRect b="16687" l="0" r="0" t="0"/>
          <a:stretch/>
        </p:blipFill>
        <p:spPr>
          <a:xfrm>
            <a:off x="453400" y="1462725"/>
            <a:ext cx="9159573" cy="490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2075" y="2083000"/>
            <a:ext cx="3180971" cy="5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8325" y="6368525"/>
            <a:ext cx="6727375" cy="32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17e5020a2_0_3"/>
          <p:cNvSpPr txBox="1"/>
          <p:nvPr>
            <p:ph type="title"/>
          </p:nvPr>
        </p:nvSpPr>
        <p:spPr>
          <a:xfrm>
            <a:off x="453394" y="781965"/>
            <a:ext cx="105156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s-CL" sz="3600"/>
              <a:t>Plan de Pruebas Desarrollo</a:t>
            </a:r>
            <a:endParaRPr/>
          </a:p>
        </p:txBody>
      </p:sp>
      <p:pic>
        <p:nvPicPr>
          <p:cNvPr id="183" name="Google Shape;183;g3917e5020a2_0_3"/>
          <p:cNvPicPr preferRelativeResize="0"/>
          <p:nvPr/>
        </p:nvPicPr>
        <p:blipFill rotWithShape="1">
          <a:blip r:embed="rId3">
            <a:alphaModFix/>
          </a:blip>
          <a:srcRect b="0" l="11375" r="14125" t="0"/>
          <a:stretch/>
        </p:blipFill>
        <p:spPr>
          <a:xfrm>
            <a:off x="158700" y="1643050"/>
            <a:ext cx="5237025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917e5020a2_0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6950" y="2988300"/>
            <a:ext cx="6901575" cy="3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 txBox="1"/>
          <p:nvPr/>
        </p:nvSpPr>
        <p:spPr>
          <a:xfrm>
            <a:off x="1308099" y="799165"/>
            <a:ext cx="95758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435" y="2247527"/>
            <a:ext cx="11197129" cy="335913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3"/>
          <p:cNvSpPr txBox="1"/>
          <p:nvPr/>
        </p:nvSpPr>
        <p:spPr>
          <a:xfrm>
            <a:off x="838200" y="5358141"/>
            <a:ext cx="10515600" cy="942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e832b1d6b_2_3"/>
          <p:cNvSpPr txBox="1"/>
          <p:nvPr>
            <p:ph type="title"/>
          </p:nvPr>
        </p:nvSpPr>
        <p:spPr>
          <a:xfrm>
            <a:off x="838200" y="974938"/>
            <a:ext cx="105156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Reflexión Final</a:t>
            </a:r>
            <a:endParaRPr/>
          </a:p>
        </p:txBody>
      </p:sp>
      <p:sp>
        <p:nvSpPr>
          <p:cNvPr id="197" name="Google Shape;197;g3ae832b1d6b_2_3"/>
          <p:cNvSpPr/>
          <p:nvPr/>
        </p:nvSpPr>
        <p:spPr>
          <a:xfrm>
            <a:off x="903515" y="1647372"/>
            <a:ext cx="9671100" cy="3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Lecciones Aprendidas y Obstáculos presentados con la Experiencia.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principales obstáculos que se vivieron como equipo?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principales obstáculos fueron la gestión del tiempo, la integración de dependencias tecnológicas externas, la configuración de entornos de desarrollo y la coordinación efectiva del trabajo colaborativo mediante control de versiones.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los evitaría para un próximo proyecto</a:t>
            </a: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Estos obstáculos se evitarían mediante una planificación inicial más detallada, definición temprana de la arquitectura tecnológica, establecimiento de flujos de trabajo colaborativos claros y aplicación de seguimiento periódico del avance del proyecto.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/>
          <p:nvPr>
            <p:ph type="title"/>
          </p:nvPr>
        </p:nvSpPr>
        <p:spPr>
          <a:xfrm>
            <a:off x="838200" y="974938"/>
            <a:ext cx="10515600" cy="672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Reflexión Final</a:t>
            </a:r>
            <a:endParaRPr/>
          </a:p>
        </p:txBody>
      </p:sp>
      <p:sp>
        <p:nvSpPr>
          <p:cNvPr id="203" name="Google Shape;203;p14"/>
          <p:cNvSpPr/>
          <p:nvPr/>
        </p:nvSpPr>
        <p:spPr>
          <a:xfrm>
            <a:off x="903515" y="1647372"/>
            <a:ext cx="9670961" cy="3338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Lecciones Aprendidas y Obstáculos presentados con la Experiencia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 </a:t>
            </a: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casos más complejos en desarrollar?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casos más complejos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corresponden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la gestión de planes de suscripción, el diseño del dashboard de información consolidada y la integración de funcionalidades de generación de reportes, debido a la definición de reglas de negocio y consideraciones de escalabilidad.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 </a:t>
            </a: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¿Perciben un crecimiento en su capacidad para desarrollar proyectos informáticos reales?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Sí, como equipo se evidencia un crecimiento significativo en la capacidad para desarrollar proyectos informáticos reales, tanto a nivel técnico como en la gestión del trabajo colaborativo y resolución de problemas propios de entornos productivos.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e832b1d6b_2_10"/>
          <p:cNvSpPr txBox="1"/>
          <p:nvPr>
            <p:ph type="title"/>
          </p:nvPr>
        </p:nvSpPr>
        <p:spPr>
          <a:xfrm>
            <a:off x="838200" y="974938"/>
            <a:ext cx="105156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Reflexión Final</a:t>
            </a:r>
            <a:endParaRPr/>
          </a:p>
        </p:txBody>
      </p:sp>
      <p:sp>
        <p:nvSpPr>
          <p:cNvPr id="209" name="Google Shape;209;g3ae832b1d6b_2_10"/>
          <p:cNvSpPr/>
          <p:nvPr/>
        </p:nvSpPr>
        <p:spPr>
          <a:xfrm>
            <a:off x="903515" y="1647372"/>
            <a:ext cx="9671100" cy="3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Lecciones Aprendidas y Obstáculos presentados con la Experiencia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</a:t>
            </a: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¿Cuáles fueron los principales auto-aprendizajes que han logrado en el proceso?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principales auto-aprendizajes fueron el fortalecimiento de habilidades en arquitectura de software, uso de frameworks de desarrollo, gestión de bases de datos, control de versiones y la capacidad de autoaprendizaje para resolver problemáticas técnicas complejas.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 txBox="1"/>
          <p:nvPr>
            <p:ph type="title"/>
          </p:nvPr>
        </p:nvSpPr>
        <p:spPr>
          <a:xfrm>
            <a:off x="838200" y="974938"/>
            <a:ext cx="10515600" cy="6724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Responder las Preguntas del Proyecto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